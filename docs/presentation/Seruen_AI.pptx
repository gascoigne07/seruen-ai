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d381f0f7b54b2c" /><Relationship Type="http://schemas.openxmlformats.org/officeDocument/2006/relationships/extended-properties" Target="/docProps/app.xml" Id="R9b339e11471b4514" /><Relationship Type="http://schemas.openxmlformats.org/officeDocument/2006/relationships/officeDocument" Target="/ppt/presentation.xml" Id="R8dc1cec426b641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596cbe4b848ce"/>
  </p:sldMasterIdLst>
  <p:notesMasterIdLst>
    <p:notesMasterId xmlns:r="http://schemas.openxmlformats.org/officeDocument/2006/relationships" r:id="Rb63cad956f8346ce"/>
  </p:notesMasterIdLst>
  <p:sldIdLst>
    <p:sldId xmlns:r="http://schemas.openxmlformats.org/officeDocument/2006/relationships" id="256" r:id="R945d7b05bed549d1"/>
    <p:sldId xmlns:r="http://schemas.openxmlformats.org/officeDocument/2006/relationships" id="257" r:id="R9033d0d051364974"/>
    <p:sldId xmlns:r="http://schemas.openxmlformats.org/officeDocument/2006/relationships" id="258" r:id="R3e9e94b7271b4287"/>
    <p:sldId xmlns:r="http://schemas.openxmlformats.org/officeDocument/2006/relationships" id="259" r:id="Rbe125e7aed754fe6"/>
    <p:sldId xmlns:r="http://schemas.openxmlformats.org/officeDocument/2006/relationships" id="260" r:id="Rdb172bbb13e54e9c"/>
    <p:sldId xmlns:r="http://schemas.openxmlformats.org/officeDocument/2006/relationships" id="261" r:id="Rfa447384c099411d"/>
    <p:sldId xmlns:r="http://schemas.openxmlformats.org/officeDocument/2006/relationships" id="262" r:id="R2acce65071604081"/>
    <p:sldId xmlns:r="http://schemas.openxmlformats.org/officeDocument/2006/relationships" id="263" r:id="R4daf94e5e3834bcc"/>
    <p:sldId xmlns:r="http://schemas.openxmlformats.org/officeDocument/2006/relationships" id="264" r:id="R689c0844dbd9482d"/>
    <p:sldId xmlns:r="http://schemas.openxmlformats.org/officeDocument/2006/relationships" id="265" r:id="R9a06d97544ca4e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2722b4488640ec" /><Relationship Type="http://schemas.openxmlformats.org/officeDocument/2006/relationships/slideMaster" Target="/ppt/slideMasters/slideMaster1.xml" Id="R03d596cbe4b848ce" /><Relationship Type="http://schemas.openxmlformats.org/officeDocument/2006/relationships/notesMaster" Target="/ppt/notesMasters/notesMaster1.xml" Id="Rb63cad956f8346ce" /><Relationship Type="http://schemas.openxmlformats.org/officeDocument/2006/relationships/presProps" Target="/ppt/presProps.xml" Id="R77c2ab4bb3dd4e3e" /><Relationship Type="http://schemas.openxmlformats.org/officeDocument/2006/relationships/tableStyles" Target="/ppt/tableStyles.xml" Id="Rf2148e46a9a246aa" /><Relationship Type="http://schemas.openxmlformats.org/officeDocument/2006/relationships/slide" Target="/ppt/slides/slide1.xml" Id="R945d7b05bed549d1" /><Relationship Type="http://schemas.openxmlformats.org/officeDocument/2006/relationships/slide" Target="/ppt/slides/slide2.xml" Id="R9033d0d051364974" /><Relationship Type="http://schemas.openxmlformats.org/officeDocument/2006/relationships/slide" Target="/ppt/slides/slide3.xml" Id="R3e9e94b7271b4287" /><Relationship Type="http://schemas.openxmlformats.org/officeDocument/2006/relationships/slide" Target="/ppt/slides/slide4.xml" Id="Rbe125e7aed754fe6" /><Relationship Type="http://schemas.openxmlformats.org/officeDocument/2006/relationships/slide" Target="/ppt/slides/slide5.xml" Id="Rdb172bbb13e54e9c" /><Relationship Type="http://schemas.openxmlformats.org/officeDocument/2006/relationships/slide" Target="/ppt/slides/slide6.xml" Id="Rfa447384c099411d" /><Relationship Type="http://schemas.openxmlformats.org/officeDocument/2006/relationships/slide" Target="/ppt/slides/slide7.xml" Id="R2acce65071604081" /><Relationship Type="http://schemas.openxmlformats.org/officeDocument/2006/relationships/slide" Target="/ppt/slides/slide8.xml" Id="R4daf94e5e3834bcc" /><Relationship Type="http://schemas.openxmlformats.org/officeDocument/2006/relationships/slide" Target="/ppt/slides/slide9.xml" Id="R689c0844dbd9482d" /><Relationship Type="http://schemas.openxmlformats.org/officeDocument/2006/relationships/slide" Target="/ppt/slides/slide10.xml" Id="R9a06d97544ca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f86ce727844a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4d20a7153b47e8" /><Relationship Type="http://schemas.openxmlformats.org/officeDocument/2006/relationships/notesMaster" Target="/ppt/notesMasters/notesMaster1.xml" Id="Rfb3b0546583e40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867186678b49a3" /><Relationship Type="http://schemas.openxmlformats.org/officeDocument/2006/relationships/notesMaster" Target="/ppt/notesMasters/notesMaster1.xml" Id="Rf8f9c4da0cfc46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81cf426d24270" /><Relationship Type="http://schemas.openxmlformats.org/officeDocument/2006/relationships/notesMaster" Target="/ppt/notesMasters/notesMaster1.xml" Id="R7e7ccc8afe29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28a3270b964e36" /><Relationship Type="http://schemas.openxmlformats.org/officeDocument/2006/relationships/notesMaster" Target="/ppt/notesMasters/notesMaster1.xml" Id="R3cdb9ffb235a45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7c71fe5655495b" /><Relationship Type="http://schemas.openxmlformats.org/officeDocument/2006/relationships/notesMaster" Target="/ppt/notesMasters/notesMaster1.xml" Id="R31847759644f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ca69e92cb24b1c" /><Relationship Type="http://schemas.openxmlformats.org/officeDocument/2006/relationships/notesMaster" Target="/ppt/notesMasters/notesMaster1.xml" Id="Raa407d359479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3b412eea924ba9" /><Relationship Type="http://schemas.openxmlformats.org/officeDocument/2006/relationships/notesMaster" Target="/ppt/notesMasters/notesMaster1.xml" Id="R25eb277a326146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c6ad4081064918" /><Relationship Type="http://schemas.openxmlformats.org/officeDocument/2006/relationships/notesMaster" Target="/ppt/notesMasters/notesMaster1.xml" Id="Rfa1bc45938d048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c783018ed34cd0" /><Relationship Type="http://schemas.openxmlformats.org/officeDocument/2006/relationships/notesMaster" Target="/ppt/notesMasters/notesMaster1.xml" Id="Rbaf44b9ab0e64a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7beb1e35f04b8b" /><Relationship Type="http://schemas.openxmlformats.org/officeDocument/2006/relationships/notesMaster" Target="/ppt/notesMasters/notesMaster1.xml" Id="Re84e69e0f9dc42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Seruen AI</a:t>
            </a:r>
          </a:p>
          <a:p xmlns:a="http://schemas.openxmlformats.org/drawingml/2006/main">
            <a:r>
              <a:t>Ориентир: 25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Мы представляем Seruen AI, помощника по прогулкам в Астане. «Серуен» по-казахски означает прогулку. Человек сообщает, где находится, сколько у него времени и что хочется сделать. Система подбирает конкретные места рядом, объясняет выбор и помогает оценить, хватит ли времени. В основе проекта лежит наш автоматически собранный датасет городских объектов.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Условия хакатона, кейс №1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Задача пользователя</a:t>
            </a:r>
          </a:p>
          <a:p xmlns:a="http://schemas.openxmlformats.org/drawingml/2006/main">
            <a:r>
              <a:t>Ориентир: 30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Представим человека, у которого сорок пять свободных минут у Mega Silk Way. Ему нужен конкретный вариант, на который хватит времени. Расстояние само по себе ничего не решает: нужно учесть дорогу, посещение и запас. У родителя с коляской появится требование доступности. У человека, который хочет поработать, будут другие пожелания. Поэтому мы начинаем с контекста запроса и показываем, как он повлиял на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docs/TEST_SCENARIOS.md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Карточка рекомендации</a:t>
            </a:r>
          </a:p>
          <a:p xmlns:a="http://schemas.openxmlformats.org/drawingml/2006/main">
            <a:r>
              <a:t>Ориентир: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фактический ответ приложения с подключённой моделью OpenAI. Для прогулки у Mega Silk Way система предлагает NU Park: пятьсот восемьдесят шесть метров по прямой и примерно одиннадцать минут пешком. В карточке есть объяснение, отдельная идея занятия, время посещения и ссылка на OSM. Часы здесь не подтверждены, и это видно сразу. Идея прогулки не утверждает, что в парке обязательно есть определённые дорожки или оборудование. Если условия не подходят, человек выбирает другой вариант. Для короткого бюджета одна хорошая рекомендация допустима.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outputs/Seruen_AI_demo.jpg, фактический снимок интерфейса</a:t>
            </a:r>
          </a:p>
          <a:p xmlns:a="http://schemas.openxmlformats.org/drawingml/2006/main">
            <a:r>
              <a:t>data/pois.json</a:t>
            </a:r>
          </a:p>
          <a:p xmlns:a="http://schemas.openxmlformats.org/drawingml/2006/main">
            <a:r>
              <a:t>docs/TEST_SCENARIOS.md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Сбор и воспроизводимость</a:t>
            </a:r>
          </a:p>
          <a:p xmlns:a="http://schemas.openxmlformats.org/drawingml/2006/main">
            <a:r>
              <a:t>Ориентир: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Датасет мы собираем автоматически через Overpass из OpenStreetMap. В текущем снимке тысяча сто семьдесят одно место после удаления шестидесяти одного дубля. Мы сохраняем сырой ответ, текст запроса, время получения и SHA-256. Отдельная команда проверяет хеши, повторяет нормализацию и сверяет статистику без сети. У детских площадок часто нет названия, поэтому для двухсот шестидесяти одной записи мы создали служебную подпись и помечаем это. Четырнадцать описаний дополнены выдержками из Wikipedia со ссылками. Новый сбор может изменить данные.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data/quality_report.json</a:t>
            </a:r>
          </a:p>
          <a:p xmlns:a="http://schemas.openxmlformats.org/drawingml/2006/main">
            <a:r>
              <a:t>data/metadata.json</a:t>
            </a:r>
          </a:p>
          <a:p xmlns:a="http://schemas.openxmlformats.org/drawingml/2006/main">
            <a:r>
              <a:t>seruen/collect/verify.py</a:t>
            </a:r>
          </a:p>
          <a:p xmlns:a="http://schemas.openxmlformats.org/drawingml/2006/main">
            <a:r>
              <a:t>https://www.openstreetmap.org/copyright</a:t>
            </a:r>
          </a:p>
          <a:p xmlns:a="http://schemas.openxmlformats.org/drawingml/2006/main">
            <a:r>
              <a:t>https://creativecommons.org/licenses/by-sa/4.0/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RAG и роль модели</a:t>
            </a:r>
          </a:p>
          <a:p xmlns:a="http://schemas.openxmlformats.org/drawingml/2006/main">
            <a:r>
              <a:t>Ориентир: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ИИ выделяет из обычной речи текущее место человека. Координаты подтверждаются по каталогу или поиску Photon в пределах Астаны. При неоднозначности человек выбирает совпадение, а неизвестное место не заменяется Байтереком. Затем локальный поиск применяет ограничения по расстоянию, времени и контексту. Среди оставшихся мест BM25 и скоринг выбирают до восьми кандидатов. Предпочтения и бюджет проверяются локально; название старта не становится желаемой категорией. Модель OpenAI, подключённая владельцем на сервере, выбирает карточки только из этого списка. Клиенты не входят в аккаунты и не настраивают ключи. Все запросы используют единое подключение сервера. Часы, расстояния и бюджет проверяются нашим кодом. Объяснение строится из полей объекта. Модель может предложить занятие, но оно проходит фильтр и остаётся помеченной идеей с условием о возможности на месте. При сбое используется прозрачный шаблонный режим. Подключение проверено настоящими запросами к GPT-6 Luna. Владелец задаёт ключ один раз на сервере, а посетители сразу получают рекомендации.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seruen/cli.py</a:t>
            </a:r>
          </a:p>
          <a:p xmlns:a="http://schemas.openxmlformats.org/drawingml/2006/main">
            <a:r>
              <a:t>seruen/core/retrieval.py</a:t>
            </a:r>
          </a:p>
          <a:p xmlns:a="http://schemas.openxmlformats.org/drawingml/2006/main">
            <a:r>
              <a:t>seruen/core/generate.py</a:t>
            </a:r>
          </a:p>
          <a:p xmlns:a="http://schemas.openxmlformats.org/drawingml/2006/main">
            <a:r>
              <a:t>seruen/core/intent.py</a:t>
            </a:r>
          </a:p>
          <a:p xmlns:a="http://schemas.openxmlformats.org/drawingml/2006/main">
            <a:r>
              <a:t>seruen/core/origin_resolution.py</a:t>
            </a:r>
          </a:p>
          <a:p xmlns:a="http://schemas.openxmlformats.org/drawingml/2006/main">
            <a:r>
              <a:t>https://github.com/komoot/photon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Учёт ограничений</a:t>
            </a:r>
          </a:p>
          <a:p xmlns:a="http://schemas.openxmlformats.org/drawingml/2006/main">
            <a:r>
              <a:t>Ориентир: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Время ограничивает поиск, а не просто добавляется к готовому списку. Мы учитываем посещение и запас пять минут. Если нужен возврат, он тоже входит в расчёт. При явном требовании доступности проходят только объекты с отметкой wheelchair=yes. Отсутствие отметки не считается доказательством доступности. В детском сценарии исключаются бары и пабы. Если расписание позволяет, проверяем, не закроется ли место к приходу или во время посещения. При нехватке данных система может вернуть меньше карточек или объяснить, что подходящих вариантов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seruen/core/retrieval.py</a:t>
            </a:r>
          </a:p>
          <a:p xmlns:a="http://schemas.openxmlformats.org/drawingml/2006/main">
            <a:r>
              <a:t>seruen/core/geo.py</a:t>
            </a:r>
          </a:p>
          <a:p xmlns:a="http://schemas.openxmlformats.org/drawingml/2006/main">
            <a:r>
              <a:t>seruen/core/route.py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Честность данных</a:t>
            </a:r>
          </a:p>
          <a:p xmlns:a="http://schemas.openxmlformats.org/drawingml/2006/main">
            <a:r>
              <a:t>Ориентир: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Заполненные часы есть только у двадцати семи целых одной десятой процента мест. Это свойство исходных данных, и мы показываем его пользователю. Даже заполненное расписание может быть сложным: если парсер его не понимает, статус останется неизвестным. Данные OSM не гарантируют, что заведение фактически работает сегодня. То же относится к розеткам и тишине: косвенные признаки помогают ранжировать, но не подтверждают удобства. В карточке пользователь видит ограничения и источник, чтобы решить, что необходимо уточнить.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data/quality_report.json</a:t>
            </a:r>
          </a:p>
          <a:p xmlns:a="http://schemas.openxmlformats.org/drawingml/2006/main">
            <a:r>
              <a:t>seruen/core/hours.py</a:t>
            </a:r>
          </a:p>
          <a:p xmlns:a="http://schemas.openxmlformats.org/drawingml/2006/main">
            <a:r>
              <a:t>docs/PRIVACY.md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Приватность</a:t>
            </a:r>
          </a:p>
          <a:p xmlns:a="http://schemas.openxmlformats.org/drawingml/2006/main">
            <a:r>
              <a:t>Ориентир: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Поиск рекомендаций и расчёт расстояний работают локально. Для определения старта ИИ получает текст запроса, а Photon — только выделенное название или адрес. Кеш поиска хранится в памяти до суток. История запросов не записывается на диск. Ключ OpenAI API хранится только на сервере владельца. Клиенты не вводят ключи и не входят в OpenAI. Историю в памяти сессии можно очистить. Модель не получает отдельное поле точных координат, но текст с названием места всё равно может раскрывать положение, поэтому мы не обещаем анонимность. Погода запрашивается только по желанию, с координатами, округлёнными до двух знаков. Подложка карты загружается из CARTO и требует интернета. Для полностью офлайн-проверки есть CLI с отключёнными моделью и погодой.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docs/PRIVACY.md</a:t>
            </a:r>
          </a:p>
          <a:p xmlns:a="http://schemas.openxmlformats.org/drawingml/2006/main">
            <a:r>
              <a:t>seruen/core/weather.py</a:t>
            </a:r>
          </a:p>
          <a:p xmlns:a="http://schemas.openxmlformats.org/drawingml/2006/main">
            <a:r>
              <a:t>seruen/app/streamlit_app.py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Проверка сценариев</a:t>
            </a:r>
          </a:p>
          <a:p xmlns:a="http://schemas.openxmlformats.org/drawingml/2006/main">
            <a:r>
              <a:t>Ориентир: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подготовили пять ситуаций из брифа и записали фактические результаты с фиксированным временем. Есть прогулка у Mega Silk Way, рабочее кафе, ребёнок, аэропорт и необычный ночной запрос. Дополнительно проверяем английский и казахский языки, маршрут с возвратом и определение Ботанического сада из текста. Для аэропорта пустая выдача может быть правильным результатом: система не должна отправлять человека далеко только ради красивой рекомендации. Она также не рассчитывает регистрацию и контроль перед рейсом. Автоматические тесты проверяют фильтры, часы, бюджет, ошибки модели и интерфейс. Рабочее кафе остаётся одним местом на выбор. Подборку можно скачать и взять с собой.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docs/TEST_SCENARIOS.md</a:t>
            </a:r>
          </a:p>
          <a:p xmlns:a="http://schemas.openxmlformats.org/drawingml/2006/main">
            <a:r>
              <a:t>tests/</a:t>
            </a:r>
          </a:p>
          <a:p xmlns:a="http://schemas.openxmlformats.org/drawingml/2006/main">
            <a:r>
              <a:t>docs/DEMO_SCRIPT.md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10. Завершение</a:t>
            </a:r>
          </a:p>
          <a:p xmlns:a="http://schemas.openxmlformats.org/drawingml/2006/main">
            <a:r>
              <a:t>Ориентир: 30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Следующий шаг проекта связан с качеством решений на улице. Нужен пешеходный граф с переходами и преградами, более свежие часы и проверенная доступность. Сейчас маршрут показывает порядок точек и оценку времени, а не навигацию по тротуарам. Запросы через серверный OpenAI API уже работают. Следующий шаг — проверить полезность рекомендаций с жителями и гостями города. Gemini остаётся дополнительным провайдером. Уже сейчас приложение можно запустить локально, проверить сценарии и увидеть происхождение рекомендаций. Для нас основная ценность Seruen AI в том, что человек получает конкретный вариант и понимает, на каких данных он основан.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480c064a64f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9f2f335c44e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890d7cfc045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4de80702f45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8fb39d1b94f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f660fbcc4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1FF357-3538-4AE8-9A3A-C340106CA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C45E3F-8D73-415D-8321-9BD39E327A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0CB420-32AF-42D8-A282-0A4A116EE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D0C19A-2E81-4E00-842F-561676CEE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522EB3-52D9-42F9-8170-F5421B6F29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C26E9B-916A-4648-8FDB-231177366E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98EC39-AA35-4FA6-8CDD-3A833C335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A4E48F-20F4-4C9B-8610-EC87282587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DE89E-4601-42E3-9F52-054AD3EE5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AFA4C0-4788-479C-B825-8D41E642A7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57e5e3233e44ef" /><Relationship Type="http://schemas.openxmlformats.org/officeDocument/2006/relationships/slideLayout" Target="/ppt/slideLayouts/slideLayout1.xml" Id="Reca932fce18f4656" /><Relationship Type="http://schemas.openxmlformats.org/officeDocument/2006/relationships/slideLayout" Target="/ppt/slideLayouts/slideLayout2.xml" Id="Raf0c5303a4ff4933" /><Relationship Type="http://schemas.openxmlformats.org/officeDocument/2006/relationships/slideLayout" Target="/ppt/slideLayouts/slideLayout3.xml" Id="Raa11c41a1ebb495a" /><Relationship Type="http://schemas.openxmlformats.org/officeDocument/2006/relationships/slideLayout" Target="/ppt/slideLayouts/slideLayout4.xml" Id="R832cb59aff6d4108" /><Relationship Type="http://schemas.openxmlformats.org/officeDocument/2006/relationships/slideLayout" Target="/ppt/slideLayouts/slideLayout5.xml" Id="R842e1ebda3004b15" /><Relationship Type="http://schemas.openxmlformats.org/officeDocument/2006/relationships/slideLayout" Target="/ppt/slideLayouts/slideLayout6.xml" Id="R5c2b5cedcb5d48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a932fce18f4656"/>
    <p:sldLayoutId xmlns:r="http://schemas.openxmlformats.org/officeDocument/2006/relationships" id="2147483650" r:id="Raf0c5303a4ff4933"/>
    <p:sldLayoutId xmlns:r="http://schemas.openxmlformats.org/officeDocument/2006/relationships" id="2147483651" r:id="Raa11c41a1ebb495a"/>
    <p:sldLayoutId xmlns:r="http://schemas.openxmlformats.org/officeDocument/2006/relationships" id="2147483652" r:id="R832cb59aff6d4108"/>
    <p:sldLayoutId xmlns:r="http://schemas.openxmlformats.org/officeDocument/2006/relationships" id="2147483653" r:id="R842e1ebda3004b15"/>
    <p:sldLayoutId xmlns:r="http://schemas.openxmlformats.org/officeDocument/2006/relationships" id="2147483654" r:id="R5c2b5cedcb5d48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d3059454a458b" /><Relationship Type="http://schemas.openxmlformats.org/officeDocument/2006/relationships/notesSlide" Target="/ppt/notesSlides/notesSlide1.xml" Id="R7c57261620a3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5360e7ceaf4c64" /><Relationship Type="http://schemas.openxmlformats.org/officeDocument/2006/relationships/notesSlide" Target="/ppt/notesSlides/notesSlide2.xml" Id="R9953f28b41704b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1b47f8cb44b18" /><Relationship Type="http://schemas.openxmlformats.org/officeDocument/2006/relationships/image" Target="/ppt/media/image.jpeg" Id="Rf6ed37f2b7b940ef" /><Relationship Type="http://schemas.openxmlformats.org/officeDocument/2006/relationships/notesSlide" Target="/ppt/notesSlides/notesSlide3.xml" Id="R93271cd8f46044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d5167d5c44ec7" /><Relationship Type="http://schemas.openxmlformats.org/officeDocument/2006/relationships/notesSlide" Target="/ppt/notesSlides/notesSlide4.xml" Id="R424895e168d2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ff8b8c6394f97" /><Relationship Type="http://schemas.openxmlformats.org/officeDocument/2006/relationships/notesSlide" Target="/ppt/notesSlides/notesSlide5.xml" Id="R8cba3f1e750846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a847ceabd4505" /><Relationship Type="http://schemas.openxmlformats.org/officeDocument/2006/relationships/notesSlide" Target="/ppt/notesSlides/notesSlide6.xml" Id="Rbb2187ad0ae8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59639f6f014119" /><Relationship Type="http://schemas.openxmlformats.org/officeDocument/2006/relationships/notesSlide" Target="/ppt/notesSlides/notesSlide7.xml" Id="Ra1cc71ad20a640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0c84ce42141dd" /><Relationship Type="http://schemas.openxmlformats.org/officeDocument/2006/relationships/notesSlide" Target="/ppt/notesSlides/notesSlide8.xml" Id="Rc4191bb5462c4a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39b67d5fb4f35" /><Relationship Type="http://schemas.openxmlformats.org/officeDocument/2006/relationships/notesSlide" Target="/ppt/notesSlides/notesSlide9.xml" Id="Ra13e0bac36d045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9d33c3ce8480d" /><Relationship Type="http://schemas.openxmlformats.org/officeDocument/2006/relationships/notesSlide" Target="/ppt/notesSlides/notesSlide10.xml" Id="R51f764042af041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DE8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-0">
            <a:extLst xmlns:a="http://schemas.openxmlformats.org/drawingml/2006/main">
              <a:ext uri="{FF2B5EF4-FFF2-40B4-BE49-F238E27FC236}">
                <a16:creationId xmlns:a16="http://schemas.microsoft.com/office/drawing/2014/main" id="{C7974B7A-D6C1-409C-92A5-8B1D2C3A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1-1">
            <a:extLst xmlns:a="http://schemas.openxmlformats.org/drawingml/2006/main">
              <a:ext uri="{FF2B5EF4-FFF2-40B4-BE49-F238E27FC236}">
                <a16:creationId xmlns:a16="http://schemas.microsoft.com/office/drawing/2014/main" id="{E8016EF0-97FF-4C4D-B27C-23B55CB4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1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Seruen AI</a:t>
            </a:r>
          </a:p>
        </p:txBody>
      </p:sp>
      <p:sp>
        <p:nvSpPr>
          <p:cNvPr id="3" name="text-1-2">
            <a:extLst xmlns:a="http://schemas.openxmlformats.org/drawingml/2006/main">
              <a:ext uri="{FF2B5EF4-FFF2-40B4-BE49-F238E27FC236}">
                <a16:creationId xmlns:a16="http://schemas.microsoft.com/office/drawing/2014/main" id="{0968CE7E-DDA7-4229-AC59-D7F1D93B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03D31"/>
                </a:solidFill>
                <a:latin typeface="Arial"/>
                <a:ea typeface="Arial"/>
                <a:cs typeface="Arial"/>
              </a:rPr>
              <a:t>ИИ-помощник по прогулкам</a:t>
            </a:r>
          </a:p>
          <a:p xmlns:a="http://schemas.openxmlformats.org/drawingml/2006/main">
            <a:pPr>
              <a:defRPr sz="3150" b="0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03D31"/>
                </a:solidFill>
                <a:latin typeface="Arial"/>
                <a:ea typeface="Arial"/>
                <a:cs typeface="Arial"/>
              </a:rPr>
              <a:t>в Астане</a:t>
            </a:r>
          </a:p>
        </p:txBody>
      </p:sp>
      <p:sp>
        <p:nvSpPr>
          <p:cNvPr id="4" name="text-1-3">
            <a:extLst xmlns:a="http://schemas.openxmlformats.org/drawingml/2006/main">
              <a:ext uri="{FF2B5EF4-FFF2-40B4-BE49-F238E27FC236}">
                <a16:creationId xmlns:a16="http://schemas.microsoft.com/office/drawing/2014/main" id="{870156C7-10D8-446D-9A61-C89BAFF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Build with AI</a:t>
            </a:r>
          </a:p>
          <a:p xmlns:a="http://schemas.openxmlformats.org/drawingml/2006/main">
            <a:pPr>
              <a:defRPr sz="180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Кейс №1 НИЦ Smart City</a:t>
            </a:r>
          </a:p>
        </p:txBody>
      </p:sp>
    </p:spTree>
    <p:extLst>
      <p:ext uri="{BB962C8B-B14F-4D97-AF65-F5344CB8AC3E}">
        <p14:creationId xmlns:p14="http://schemas.microsoft.com/office/powerpoint/2010/main" val="1826496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-0">
            <a:extLst xmlns:a="http://schemas.openxmlformats.org/drawingml/2006/main">
              <a:ext uri="{FF2B5EF4-FFF2-40B4-BE49-F238E27FC236}">
                <a16:creationId xmlns:a16="http://schemas.microsoft.com/office/drawing/2014/main" id="{30498C4A-725B-436E-951E-03363E54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Сорок пять свободных минут</a:t>
            </a:r>
          </a:p>
        </p:txBody>
      </p:sp>
      <p:sp>
        <p:nvSpPr>
          <p:cNvPr id="2" name="text-2-1">
            <a:extLst xmlns:a="http://schemas.openxmlformats.org/drawingml/2006/main">
              <a:ext uri="{FF2B5EF4-FFF2-40B4-BE49-F238E27FC236}">
                <a16:creationId xmlns:a16="http://schemas.microsoft.com/office/drawing/2014/main" id="{B40F8BBE-FF57-41B6-BDBC-085C8857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2-2">
            <a:extLst xmlns:a="http://schemas.openxmlformats.org/drawingml/2006/main">
              <a:ext uri="{FF2B5EF4-FFF2-40B4-BE49-F238E27FC236}">
                <a16:creationId xmlns:a16="http://schemas.microsoft.com/office/drawing/2014/main" id="{B3968DC3-1677-4873-BF9A-3454E5B7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«Я у Mega Silk Way.</a:t>
            </a:r>
          </a:p>
          <a:p xmlns:a="http://schemas.openxmlformats.org/drawingml/2006/main">
            <a: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Хочу погулять</a:t>
            </a:r>
          </a:p>
          <a:p xmlns:a="http://schemas.openxmlformats.org/drawingml/2006/main">
            <a:pPr>
              <a:defRPr sz="48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45 минут»</a:t>
            </a:r>
          </a:p>
        </p:txBody>
      </p:sp>
      <p:sp>
        <p:nvSpPr>
          <p:cNvPr id="4" name="text-2-3">
            <a:extLst xmlns:a="http://schemas.openxmlformats.org/drawingml/2006/main">
              <a:ext uri="{FF2B5EF4-FFF2-40B4-BE49-F238E27FC236}">
                <a16:creationId xmlns:a16="http://schemas.microsoft.com/office/drawing/2014/main" id="{1CC3B637-363A-476F-B031-5F96FE08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Нужно выбрать место,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успеть дойти и понять,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что там делать.</a:t>
            </a:r>
          </a:p>
        </p:txBody>
      </p:sp>
      <p:sp>
        <p:nvSpPr>
          <p:cNvPr id="5" name="text-2-4">
            <a:extLst xmlns:a="http://schemas.openxmlformats.org/drawingml/2006/main">
              <a:ext uri="{FF2B5EF4-FFF2-40B4-BE49-F238E27FC236}">
                <a16:creationId xmlns:a16="http://schemas.microsoft.com/office/drawing/2014/main" id="{0CD4AC2D-8735-4D05-A5BC-1672CC9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Ответ зависит от времени, расстояния и условий прогулки.</a:t>
            </a:r>
          </a:p>
        </p:txBody>
      </p:sp>
    </p:spTree>
    <p:extLst>
      <p:ext uri="{BB962C8B-B14F-4D97-AF65-F5344CB8AC3E}">
        <p14:creationId xmlns:p14="http://schemas.microsoft.com/office/powerpoint/2010/main" val="368815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-0">
            <a:extLst xmlns:a="http://schemas.openxmlformats.org/drawingml/2006/main">
              <a:ext uri="{FF2B5EF4-FFF2-40B4-BE49-F238E27FC236}">
                <a16:creationId xmlns:a16="http://schemas.microsoft.com/office/drawing/2014/main" id="{E1BB32BE-CD2D-4CD3-A4B5-AE2C04D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Ответ в приложении</a:t>
            </a:r>
          </a:p>
        </p:txBody>
      </p:sp>
      <p:sp>
        <p:nvSpPr>
          <p:cNvPr id="2" name="text-3-1">
            <a:extLst xmlns:a="http://schemas.openxmlformats.org/drawingml/2006/main">
              <a:ext uri="{FF2B5EF4-FFF2-40B4-BE49-F238E27FC236}">
                <a16:creationId xmlns:a16="http://schemas.microsoft.com/office/drawing/2014/main" id="{AFA670F6-DA2D-4BF1-9D29-771122E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3-2">
            <a:extLst xmlns:a="http://schemas.openxmlformats.org/drawingml/2006/main">
              <a:ext uri="{FF2B5EF4-FFF2-40B4-BE49-F238E27FC236}">
                <a16:creationId xmlns:a16="http://schemas.microsoft.com/office/drawing/2014/main" id="{03E4B4F2-C3AF-419C-9FA2-88C523E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NU Park</a:t>
            </a:r>
          </a:p>
        </p:txBody>
      </p:sp>
      <p:sp>
        <p:nvSpPr>
          <p:cNvPr id="4" name="text-3-3">
            <a:extLst xmlns:a="http://schemas.openxmlformats.org/drawingml/2006/main">
              <a:ext uri="{FF2B5EF4-FFF2-40B4-BE49-F238E27FC236}">
                <a16:creationId xmlns:a16="http://schemas.microsoft.com/office/drawing/2014/main" id="{DB313C51-D4BC-4634-8556-B610F4B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586 м по прямой</a:t>
            </a:r>
          </a:p>
          <a:p xmlns:a="http://schemas.openxmlformats.org/drawingml/2006/main">
            <a: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Около 11 минут пешком</a:t>
            </a:r>
          </a:p>
          <a:p xmlns:a="http://schemas.openxmlformats.org/drawingml/2006/main">
            <a: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Посещение около 29 минут</a:t>
            </a:r>
          </a:p>
        </p:txBody>
      </p:sp>
      <p:sp>
        <p:nvSpPr>
          <p:cNvPr id="5" name="text-3-4">
            <a:extLst xmlns:a="http://schemas.openxmlformats.org/drawingml/2006/main">
              <a:ext uri="{FF2B5EF4-FFF2-40B4-BE49-F238E27FC236}">
                <a16:creationId xmlns:a16="http://schemas.microsoft.com/office/drawing/2014/main" id="{64890039-7E52-45F5-A3B3-43984225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Часы не подтверждены</a:t>
            </a:r>
          </a:p>
          <a:p xmlns:a="http://schemas.openxmlformats.org/drawingml/2006/main">
            <a:pPr>
              <a:defRPr sz="21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Источник доступен в карточке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7F843-E4EB-4E64-9DE4-F907118AFC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d37f2b7b940ef"/>
          <a:stretch xmlns:a="http://schemas.openxmlformats.org/drawingml/2006/main"/>
        </p:blipFill>
        <p:spPr>
          <a:xfrm xmlns:a="http://schemas.openxmlformats.org/drawingml/2006/main">
            <a:off x="6268374" y="1238250"/>
            <a:ext cx="4370127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44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-0">
            <a:extLst xmlns:a="http://schemas.openxmlformats.org/drawingml/2006/main">
              <a:ext uri="{FF2B5EF4-FFF2-40B4-BE49-F238E27FC236}">
                <a16:creationId xmlns:a16="http://schemas.microsoft.com/office/drawing/2014/main" id="{497B63B7-4118-49A6-96A2-89A41BEB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Собственный датасет</a:t>
            </a:r>
          </a:p>
        </p:txBody>
      </p:sp>
      <p:sp>
        <p:nvSpPr>
          <p:cNvPr id="2" name="text-4-1">
            <a:extLst xmlns:a="http://schemas.openxmlformats.org/drawingml/2006/main">
              <a:ext uri="{FF2B5EF4-FFF2-40B4-BE49-F238E27FC236}">
                <a16:creationId xmlns:a16="http://schemas.microsoft.com/office/drawing/2014/main" id="{529B7F88-B4AF-4471-9315-20B3D73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4-2">
            <a:extLst xmlns:a="http://schemas.openxmlformats.org/drawingml/2006/main">
              <a:ext uri="{FF2B5EF4-FFF2-40B4-BE49-F238E27FC236}">
                <a16:creationId xmlns:a16="http://schemas.microsoft.com/office/drawing/2014/main" id="{838DF11F-4FD2-4065-AA8B-0625D51A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1 171</a:t>
            </a:r>
          </a:p>
        </p:txBody>
      </p:sp>
      <p:sp>
        <p:nvSpPr>
          <p:cNvPr id="4" name="text-4-3">
            <a:extLst xmlns:a="http://schemas.openxmlformats.org/drawingml/2006/main">
              <a:ext uri="{FF2B5EF4-FFF2-40B4-BE49-F238E27FC236}">
                <a16:creationId xmlns:a16="http://schemas.microsoft.com/office/drawing/2014/main" id="{4D8DC424-BA33-464C-85DD-16CAA1B3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место в Астане</a:t>
            </a:r>
          </a:p>
        </p:txBody>
      </p:sp>
      <p:sp>
        <p:nvSpPr>
          <p:cNvPr id="5" name="text-4-4">
            <a:extLst xmlns:a="http://schemas.openxmlformats.org/drawingml/2006/main">
              <a:ext uri="{FF2B5EF4-FFF2-40B4-BE49-F238E27FC236}">
                <a16:creationId xmlns:a16="http://schemas.microsoft.com/office/drawing/2014/main" id="{9F3F28B4-5D56-40CE-818B-D852350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Снимок 19.10.2026</a:t>
            </a:r>
          </a:p>
          <a:p xmlns:a="http://schemas.openxmlformats.org/drawingml/2006/main">
            <a: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1 232 исходных объекта</a:t>
            </a:r>
          </a:p>
          <a:p xmlns:a="http://schemas.openxmlformats.org/drawingml/2006/main">
            <a: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61 дубль удалён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C9A10-13E9-4653-9265-B44D04A67A27}"/>
              </a:ext>
            </a:extLst>
          </p:cNvPr>
          <p:cNvGraphicFramePr/>
          <p:nvPr/>
        </p:nvGraphicFramePr>
        <p:xfrm>
          <a:off xmlns:a="http://schemas.openxmlformats.org/drawingml/2006/main" x="5286375" y="1905000"/>
          <a:ext xmlns:a="http://schemas.openxmlformats.org/drawingml/2006/main" cx="6238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1762125"/>
              </a:tblGrid>
              <a:tr h="685800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T w="9525">
                      <a:solidFill>
                        <a:srgbClr val="C9D5C8"/>
                      </a:solidFill>
                      <a:prstDash val="solid"/>
                    </a:lnT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203D31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T w="9525">
                      <a:solidFill>
                        <a:srgbClr val="C9D5C8"/>
                      </a:solidFill>
                      <a:prstDash val="solid"/>
                    </a:lnT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203D31"/>
                    </a:solidFill>
                  </a:tcPr>
                </a:tc>
              </a:tr>
              <a:tr h="6858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Часы заполнены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317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6858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yes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6858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Служебные названия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6858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Описания Wikipedia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</a:tbl>
          </a:graphicData>
        </a:graphic>
      </p:graphicFrame>
      <p:sp>
        <p:nvSpPr>
          <p:cNvPr id="7" name="text-4-5">
            <a:extLst xmlns:a="http://schemas.openxmlformats.org/drawingml/2006/main">
              <a:ext uri="{FF2B5EF4-FFF2-40B4-BE49-F238E27FC236}">
                <a16:creationId xmlns:a16="http://schemas.microsoft.com/office/drawing/2014/main" id="{C0D7DABF-F0EC-4BFE-96E5-59E9B742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© OpenStreetMap contributors, ODbL 1.0</a:t>
            </a:r>
          </a:p>
        </p:txBody>
      </p:sp>
    </p:spTree>
    <p:extLst>
      <p:ext uri="{BB962C8B-B14F-4D97-AF65-F5344CB8AC3E}">
        <p14:creationId xmlns:p14="http://schemas.microsoft.com/office/powerpoint/2010/main" val="1219093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45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5-0">
            <a:extLst xmlns:a="http://schemas.openxmlformats.org/drawingml/2006/main">
              <a:ext uri="{FF2B5EF4-FFF2-40B4-BE49-F238E27FC236}">
                <a16:creationId xmlns:a16="http://schemas.microsoft.com/office/drawing/2014/main" id="{793C6528-0BDE-4E93-930B-2CD0C72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работает RAG</a:t>
            </a:r>
          </a:p>
        </p:txBody>
      </p:sp>
      <p:sp>
        <p:nvSpPr>
          <p:cNvPr id="2" name="text-5-1">
            <a:extLst xmlns:a="http://schemas.openxmlformats.org/drawingml/2006/main">
              <a:ext uri="{FF2B5EF4-FFF2-40B4-BE49-F238E27FC236}">
                <a16:creationId xmlns:a16="http://schemas.microsoft.com/office/drawing/2014/main" id="{E511304A-113C-4CE3-A91D-1A4DFC81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D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D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5-2">
            <a:extLst xmlns:a="http://schemas.openxmlformats.org/drawingml/2006/main">
              <a:ext uri="{FF2B5EF4-FFF2-40B4-BE49-F238E27FC236}">
                <a16:creationId xmlns:a16="http://schemas.microsoft.com/office/drawing/2014/main" id="{92B4DB55-6FD6-4956-A270-9EB98D42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AC7B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5-3">
            <a:extLst xmlns:a="http://schemas.openxmlformats.org/drawingml/2006/main">
              <a:ext uri="{FF2B5EF4-FFF2-40B4-BE49-F238E27FC236}">
                <a16:creationId xmlns:a16="http://schemas.microsoft.com/office/drawing/2014/main" id="{10A1C01E-68C4-483B-B94E-E51FAF0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621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старта</a:t>
            </a:r>
          </a:p>
        </p:txBody>
      </p:sp>
      <p:sp>
        <p:nvSpPr>
          <p:cNvPr id="5" name="text-5-4">
            <a:extLst xmlns:a="http://schemas.openxmlformats.org/drawingml/2006/main">
              <a:ext uri="{FF2B5EF4-FFF2-40B4-BE49-F238E27FC236}">
                <a16:creationId xmlns:a16="http://schemas.microsoft.com/office/drawing/2014/main" id="{3980A94C-2652-4D7C-AE19-DF300FC0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8DC"/>
                </a:solidFill>
                <a:latin typeface="Arial"/>
                <a:ea typeface="Arial"/>
                <a:cs typeface="Arial"/>
              </a:rPr>
              <a:t>ИИ: название → поиск точки</a:t>
            </a:r>
          </a:p>
        </p:txBody>
      </p:sp>
      <p:sp>
        <p:nvSpPr>
          <p:cNvPr id="6" name="text-5-5">
            <a:extLst xmlns:a="http://schemas.openxmlformats.org/drawingml/2006/main">
              <a:ext uri="{FF2B5EF4-FFF2-40B4-BE49-F238E27FC236}">
                <a16:creationId xmlns:a16="http://schemas.microsoft.com/office/drawing/2014/main" id="{C76F5E08-5449-4A3C-8637-2DC0178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AC7B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5-6">
            <a:extLst xmlns:a="http://schemas.openxmlformats.org/drawingml/2006/main">
              <a:ext uri="{FF2B5EF4-FFF2-40B4-BE49-F238E27FC236}">
                <a16:creationId xmlns:a16="http://schemas.microsoft.com/office/drawing/2014/main" id="{89A3A663-6172-4086-B23E-0AF09A5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003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в базе</a:t>
            </a:r>
          </a:p>
        </p:txBody>
      </p:sp>
      <p:sp>
        <p:nvSpPr>
          <p:cNvPr id="8" name="text-5-7">
            <a:extLst xmlns:a="http://schemas.openxmlformats.org/drawingml/2006/main">
              <a:ext uri="{FF2B5EF4-FFF2-40B4-BE49-F238E27FC236}">
                <a16:creationId xmlns:a16="http://schemas.microsoft.com/office/drawing/2014/main" id="{47B1935C-E33C-4694-86D4-1286F0BF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193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8DC"/>
                </a:solidFill>
                <a:latin typeface="Arial"/>
                <a:ea typeface="Arial"/>
                <a:cs typeface="Arial"/>
              </a:rPr>
              <a:t>География, фильтры, BM25</a:t>
            </a:r>
          </a:p>
        </p:txBody>
      </p:sp>
      <p:sp>
        <p:nvSpPr>
          <p:cNvPr id="9" name="text-5-8">
            <a:extLst xmlns:a="http://schemas.openxmlformats.org/drawingml/2006/main">
              <a:ext uri="{FF2B5EF4-FFF2-40B4-BE49-F238E27FC236}">
                <a16:creationId xmlns:a16="http://schemas.microsoft.com/office/drawing/2014/main" id="{B64F24DB-A449-42EA-B4C9-DB664F9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AC7B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5-9">
            <a:extLst xmlns:a="http://schemas.openxmlformats.org/drawingml/2006/main">
              <a:ext uri="{FF2B5EF4-FFF2-40B4-BE49-F238E27FC236}">
                <a16:creationId xmlns:a16="http://schemas.microsoft.com/office/drawing/2014/main" id="{4AA418C9-12A4-4A87-BC71-E979C6AC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385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8 кандидатов</a:t>
            </a:r>
          </a:p>
        </p:txBody>
      </p:sp>
      <p:sp>
        <p:nvSpPr>
          <p:cNvPr id="11" name="text-5-10">
            <a:extLst xmlns:a="http://schemas.openxmlformats.org/drawingml/2006/main">
              <a:ext uri="{FF2B5EF4-FFF2-40B4-BE49-F238E27FC236}">
                <a16:creationId xmlns:a16="http://schemas.microsoft.com/office/drawing/2014/main" id="{FDCE7157-D0C1-4D36-B9A4-03B4A97D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8DC"/>
                </a:solidFill>
                <a:latin typeface="Arial"/>
                <a:ea typeface="Arial"/>
                <a:cs typeface="Arial"/>
              </a:rPr>
              <a:t>Только подходящие объекты</a:t>
            </a:r>
          </a:p>
        </p:txBody>
      </p:sp>
      <p:sp>
        <p:nvSpPr>
          <p:cNvPr id="12" name="text-5-11">
            <a:extLst xmlns:a="http://schemas.openxmlformats.org/drawingml/2006/main">
              <a:ext uri="{FF2B5EF4-FFF2-40B4-BE49-F238E27FC236}">
                <a16:creationId xmlns:a16="http://schemas.microsoft.com/office/drawing/2014/main" id="{434F830E-7D95-40D2-8E24-8254C088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AC7B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-5-12">
            <a:extLst xmlns:a="http://schemas.openxmlformats.org/drawingml/2006/main">
              <a:ext uri="{FF2B5EF4-FFF2-40B4-BE49-F238E27FC236}">
                <a16:creationId xmlns:a16="http://schemas.microsoft.com/office/drawing/2014/main" id="{2AD71041-310B-4958-A684-4D2592AE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767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3 рекомендаций</a:t>
            </a:r>
          </a:p>
        </p:txBody>
      </p:sp>
      <p:sp>
        <p:nvSpPr>
          <p:cNvPr id="14" name="text-5-13">
            <a:extLst xmlns:a="http://schemas.openxmlformats.org/drawingml/2006/main">
              <a:ext uri="{FF2B5EF4-FFF2-40B4-BE49-F238E27FC236}">
                <a16:creationId xmlns:a16="http://schemas.microsoft.com/office/drawing/2014/main" id="{09BA7D83-3321-4164-9EBF-3CE403F4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957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8DC"/>
                </a:solidFill>
                <a:latin typeface="Arial"/>
                <a:ea typeface="Arial"/>
                <a:cs typeface="Arial"/>
              </a:rPr>
              <a:t>Выбор и проверка результата</a:t>
            </a:r>
          </a:p>
        </p:txBody>
      </p:sp>
      <p:sp>
        <p:nvSpPr>
          <p:cNvPr id="15" name="text-5-14">
            <a:extLst xmlns:a="http://schemas.openxmlformats.org/drawingml/2006/main">
              <a:ext uri="{FF2B5EF4-FFF2-40B4-BE49-F238E27FC236}">
                <a16:creationId xmlns:a16="http://schemas.microsoft.com/office/drawing/2014/main" id="{AAE528AA-6069-4752-A052-20E394A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AC7B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AC7B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text-5-15">
            <a:extLst xmlns:a="http://schemas.openxmlformats.org/drawingml/2006/main">
              <a:ext uri="{FF2B5EF4-FFF2-40B4-BE49-F238E27FC236}">
                <a16:creationId xmlns:a16="http://schemas.microsoft.com/office/drawing/2014/main" id="{FE11FAE0-6692-4404-8CCB-433B82AC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149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Маршрут при наличии</a:t>
            </a:r>
          </a:p>
        </p:txBody>
      </p:sp>
      <p:sp>
        <p:nvSpPr>
          <p:cNvPr id="17" name="text-5-16">
            <a:extLst xmlns:a="http://schemas.openxmlformats.org/drawingml/2006/main">
              <a:ext uri="{FF2B5EF4-FFF2-40B4-BE49-F238E27FC236}">
                <a16:creationId xmlns:a16="http://schemas.microsoft.com/office/drawing/2014/main" id="{631E4810-B2B5-49CB-9EBD-CED71701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339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8D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8DC"/>
                </a:solidFill>
                <a:latin typeface="Arial"/>
                <a:ea typeface="Arial"/>
                <a:cs typeface="Arial"/>
              </a:rPr>
              <a:t>Время, часы и возвращение</a:t>
            </a:r>
          </a:p>
        </p:txBody>
      </p:sp>
    </p:spTree>
    <p:extLst>
      <p:ext uri="{BB962C8B-B14F-4D97-AF65-F5344CB8AC3E}">
        <p14:creationId xmlns:p14="http://schemas.microsoft.com/office/powerpoint/2010/main" val="1165372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-0">
            <a:extLst xmlns:a="http://schemas.openxmlformats.org/drawingml/2006/main">
              <a:ext uri="{FF2B5EF4-FFF2-40B4-BE49-F238E27FC236}">
                <a16:creationId xmlns:a16="http://schemas.microsoft.com/office/drawing/2014/main" id="{DD209649-95AD-4216-973D-8ED763FF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Время и контекст</a:t>
            </a:r>
          </a:p>
        </p:txBody>
      </p:sp>
      <p:sp>
        <p:nvSpPr>
          <p:cNvPr id="2" name="text-6-1">
            <a:extLst xmlns:a="http://schemas.openxmlformats.org/drawingml/2006/main">
              <a:ext uri="{FF2B5EF4-FFF2-40B4-BE49-F238E27FC236}">
                <a16:creationId xmlns:a16="http://schemas.microsoft.com/office/drawing/2014/main" id="{25D54F3A-AE0E-4685-92AC-6231613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6-2">
            <a:extLst xmlns:a="http://schemas.openxmlformats.org/drawingml/2006/main">
              <a:ext uri="{FF2B5EF4-FFF2-40B4-BE49-F238E27FC236}">
                <a16:creationId xmlns:a16="http://schemas.microsoft.com/office/drawing/2014/main" id="{E73944C6-5B30-43D1-B38D-D2A7512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4" name="text-6-3">
            <a:extLst xmlns:a="http://schemas.openxmlformats.org/drawingml/2006/main">
              <a:ext uri="{FF2B5EF4-FFF2-40B4-BE49-F238E27FC236}">
                <a16:creationId xmlns:a16="http://schemas.microsoft.com/office/drawing/2014/main" id="{AE81A61A-E051-4FF7-A7F8-A3A5AC4B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Дорога, посещение и запас 5 минут</a:t>
            </a:r>
          </a:p>
        </p:txBody>
      </p:sp>
      <p:sp>
        <p:nvSpPr>
          <p:cNvPr id="5" name="text-6-4">
            <a:extLst xmlns:a="http://schemas.openxmlformats.org/drawingml/2006/main">
              <a:ext uri="{FF2B5EF4-FFF2-40B4-BE49-F238E27FC236}">
                <a16:creationId xmlns:a16="http://schemas.microsoft.com/office/drawing/2014/main" id="{3F60FFEE-EF38-4C17-9231-FF321267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289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Доступность</a:t>
            </a:r>
          </a:p>
        </p:txBody>
      </p:sp>
      <p:sp>
        <p:nvSpPr>
          <p:cNvPr id="6" name="text-6-5">
            <a:extLst xmlns:a="http://schemas.openxmlformats.org/drawingml/2006/main">
              <a:ext uri="{FF2B5EF4-FFF2-40B4-BE49-F238E27FC236}">
                <a16:creationId xmlns:a16="http://schemas.microsoft.com/office/drawing/2014/main" id="{ABC93529-3F04-409D-A926-15535C03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При требовании только wheelchair=yes</a:t>
            </a:r>
          </a:p>
        </p:txBody>
      </p:sp>
      <p:sp>
        <p:nvSpPr>
          <p:cNvPr id="7" name="text-6-6">
            <a:extLst xmlns:a="http://schemas.openxmlformats.org/drawingml/2006/main">
              <a:ext uri="{FF2B5EF4-FFF2-40B4-BE49-F238E27FC236}">
                <a16:creationId xmlns:a16="http://schemas.microsoft.com/office/drawing/2014/main" id="{AB76BB4C-7066-45ED-B213-571CDB4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004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Ребёнок</a:t>
            </a:r>
          </a:p>
        </p:txBody>
      </p:sp>
      <p:sp>
        <p:nvSpPr>
          <p:cNvPr id="8" name="text-6-7">
            <a:extLst xmlns:a="http://schemas.openxmlformats.org/drawingml/2006/main">
              <a:ext uri="{FF2B5EF4-FFF2-40B4-BE49-F238E27FC236}">
                <a16:creationId xmlns:a16="http://schemas.microsoft.com/office/drawing/2014/main" id="{ADCD0BF3-2155-4003-A420-AC890B7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Бары и пабы исключаются</a:t>
            </a:r>
          </a:p>
        </p:txBody>
      </p:sp>
      <p:sp>
        <p:nvSpPr>
          <p:cNvPr id="9" name="text-6-8">
            <a:extLst xmlns:a="http://schemas.openxmlformats.org/drawingml/2006/main">
              <a:ext uri="{FF2B5EF4-FFF2-40B4-BE49-F238E27FC236}">
                <a16:creationId xmlns:a16="http://schemas.microsoft.com/office/drawing/2014/main" id="{5EB2A171-EC06-4E83-859B-38E2E43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Часы</a:t>
            </a:r>
          </a:p>
        </p:txBody>
      </p:sp>
      <p:sp>
        <p:nvSpPr>
          <p:cNvPr id="10" name="text-6-9">
            <a:extLst xmlns:a="http://schemas.openxmlformats.org/drawingml/2006/main">
              <a:ext uri="{FF2B5EF4-FFF2-40B4-BE49-F238E27FC236}">
                <a16:creationId xmlns:a16="http://schemas.microsoft.com/office/drawing/2014/main" id="{CBD6EF3E-5647-4B70-A6AB-06E009B6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Проверка сейчас и к моменту прихода</a:t>
            </a:r>
          </a:p>
        </p:txBody>
      </p:sp>
      <p:sp>
        <p:nvSpPr>
          <p:cNvPr id="11" name="text-6-10">
            <a:extLst xmlns:a="http://schemas.openxmlformats.org/drawingml/2006/main">
              <a:ext uri="{FF2B5EF4-FFF2-40B4-BE49-F238E27FC236}">
                <a16:creationId xmlns:a16="http://schemas.microsoft.com/office/drawing/2014/main" id="{ADB429A2-7B5D-4A23-8138-CDC0F15F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Если подходящих вариантов нет, система объясняет ограничение.</a:t>
            </a:r>
          </a:p>
        </p:txBody>
      </p:sp>
    </p:spTree>
    <p:extLst>
      <p:ext uri="{BB962C8B-B14F-4D97-AF65-F5344CB8AC3E}">
        <p14:creationId xmlns:p14="http://schemas.microsoft.com/office/powerpoint/2010/main" val="1912076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-0">
            <a:extLst xmlns:a="http://schemas.openxmlformats.org/drawingml/2006/main">
              <a:ext uri="{FF2B5EF4-FFF2-40B4-BE49-F238E27FC236}">
                <a16:creationId xmlns:a16="http://schemas.microsoft.com/office/drawing/2014/main" id="{3EF3074F-F1A1-4D63-B490-20D8FBFE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Часы работы и качество данных</a:t>
            </a:r>
          </a:p>
        </p:txBody>
      </p:sp>
      <p:sp>
        <p:nvSpPr>
          <p:cNvPr id="2" name="text-7-1">
            <a:extLst xmlns:a="http://schemas.openxmlformats.org/drawingml/2006/main">
              <a:ext uri="{FF2B5EF4-FFF2-40B4-BE49-F238E27FC236}">
                <a16:creationId xmlns:a16="http://schemas.microsoft.com/office/drawing/2014/main" id="{E740BE86-B118-4D99-A3E7-8F811AA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7-2">
            <a:extLst xmlns:a="http://schemas.openxmlformats.org/drawingml/2006/main">
              <a:ext uri="{FF2B5EF4-FFF2-40B4-BE49-F238E27FC236}">
                <a16:creationId xmlns:a16="http://schemas.microsoft.com/office/drawing/2014/main" id="{92227330-2925-49D6-9F23-710C3A4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27,1%</a:t>
            </a:r>
          </a:p>
        </p:txBody>
      </p:sp>
      <p:sp>
        <p:nvSpPr>
          <p:cNvPr id="4" name="text-7-3">
            <a:extLst xmlns:a="http://schemas.openxmlformats.org/drawingml/2006/main">
              <a:ext uri="{FF2B5EF4-FFF2-40B4-BE49-F238E27FC236}">
                <a16:creationId xmlns:a16="http://schemas.microsoft.com/office/drawing/2014/main" id="{472C3C93-809C-42DF-A3CB-8A68DF2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мест имеют заполненные часы</a:t>
            </a:r>
          </a:p>
        </p:txBody>
      </p:sp>
      <p:sp>
        <p:nvSpPr>
          <p:cNvPr id="5" name="text-7-4">
            <a:extLst xmlns:a="http://schemas.openxmlformats.org/drawingml/2006/main">
              <a:ext uri="{FF2B5EF4-FFF2-40B4-BE49-F238E27FC236}">
                <a16:creationId xmlns:a16="http://schemas.microsoft.com/office/drawing/2014/main" id="{63EE6CC1-FA01-4279-A93A-825F2FBD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17068"/>
                </a:solidFill>
                <a:latin typeface="Arial"/>
                <a:ea typeface="Arial"/>
                <a:cs typeface="Arial"/>
              </a:rPr>
              <a:t>854 места без часов в снимке</a:t>
            </a:r>
          </a:p>
        </p:txBody>
      </p:sp>
      <p:sp>
        <p:nvSpPr>
          <p:cNvPr id="6" name="text-7-5">
            <a:extLst xmlns:a="http://schemas.openxmlformats.org/drawingml/2006/main">
              <a:ext uri="{FF2B5EF4-FFF2-40B4-BE49-F238E27FC236}">
                <a16:creationId xmlns:a16="http://schemas.microsoft.com/office/drawing/2014/main" id="{CCC6C46B-9140-44D2-853C-D1483E61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Неизвестное расписание остаётся неизвестным.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Розетки и тишину нужно уточнять у заведения.</a:t>
            </a:r>
          </a:p>
        </p:txBody>
      </p:sp>
    </p:spTree>
    <p:extLst>
      <p:ext uri="{BB962C8B-B14F-4D97-AF65-F5344CB8AC3E}">
        <p14:creationId xmlns:p14="http://schemas.microsoft.com/office/powerpoint/2010/main" val="598736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8-0">
            <a:extLst xmlns:a="http://schemas.openxmlformats.org/drawingml/2006/main">
              <a:ext uri="{FF2B5EF4-FFF2-40B4-BE49-F238E27FC236}">
                <a16:creationId xmlns:a16="http://schemas.microsoft.com/office/drawing/2014/main" id="{DD84D8F6-1BE1-4A4F-9C56-0732368F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Приватность и внешние сервисы</a:t>
            </a:r>
          </a:p>
        </p:txBody>
      </p:sp>
      <p:sp>
        <p:nvSpPr>
          <p:cNvPr id="2" name="text-8-1">
            <a:extLst xmlns:a="http://schemas.openxmlformats.org/drawingml/2006/main">
              <a:ext uri="{FF2B5EF4-FFF2-40B4-BE49-F238E27FC236}">
                <a16:creationId xmlns:a16="http://schemas.microsoft.com/office/drawing/2014/main" id="{7CA8B6D4-8F9C-4032-A24B-4C25BD3F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8-2">
            <a:extLst xmlns:a="http://schemas.openxmlformats.org/drawingml/2006/main">
              <a:ext uri="{FF2B5EF4-FFF2-40B4-BE49-F238E27FC236}">
                <a16:creationId xmlns:a16="http://schemas.microsoft.com/office/drawing/2014/main" id="{06FAF1E1-04CE-4BFF-A14C-FF2ECDAD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Локальный расчёт</a:t>
            </a:r>
          </a:p>
        </p:txBody>
      </p:sp>
      <p:sp>
        <p:nvSpPr>
          <p:cNvPr id="4" name="text-8-3">
            <a:extLst xmlns:a="http://schemas.openxmlformats.org/drawingml/2006/main">
              <a:ext uri="{FF2B5EF4-FFF2-40B4-BE49-F238E27FC236}">
                <a16:creationId xmlns:a16="http://schemas.microsoft.com/office/drawing/2014/main" id="{A8A873DE-2349-4194-A7A7-20E5E4F7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4810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История только в памяти сессии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Координаты нужны для расстояний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Есть очистка истории</a:t>
            </a:r>
          </a:p>
        </p:txBody>
      </p:sp>
      <p:sp>
        <p:nvSpPr>
          <p:cNvPr id="5" name="text-8-4">
            <a:extLst xmlns:a="http://schemas.openxmlformats.org/drawingml/2006/main">
              <a:ext uri="{FF2B5EF4-FFF2-40B4-BE49-F238E27FC236}">
                <a16:creationId xmlns:a16="http://schemas.microsoft.com/office/drawing/2014/main" id="{B05FA932-A757-4C3B-9568-F1946321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Подключаемые сервисы</a:t>
            </a:r>
          </a:p>
        </p:txBody>
      </p:sp>
      <p:sp>
        <p:nvSpPr>
          <p:cNvPr id="6" name="text-8-5">
            <a:extLst xmlns:a="http://schemas.openxmlformats.org/drawingml/2006/main">
              <a:ext uri="{FF2B5EF4-FFF2-40B4-BE49-F238E27FC236}">
                <a16:creationId xmlns:a16="http://schemas.microsoft.com/office/drawing/2014/main" id="{ED15BC22-1918-442B-AB28-4A2C99C4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5143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OpenAI API: текст и карточки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Photon: название или адрес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Погода: координаты с 2 знаками</a:t>
            </a:r>
          </a:p>
          <a:p xmlns:a="http://schemas.openxmlformats.org/drawingml/2006/main">
            <a:pPr>
              <a:defRPr sz="225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CARTO: подложка карты</a:t>
            </a:r>
          </a:p>
        </p:txBody>
      </p:sp>
      <p:sp>
        <p:nvSpPr>
          <p:cNvPr id="7" name="text-8-6">
            <a:extLst xmlns:a="http://schemas.openxmlformats.org/drawingml/2006/main">
              <a:ext uri="{FF2B5EF4-FFF2-40B4-BE49-F238E27FC236}">
                <a16:creationId xmlns:a16="http://schemas.microsoft.com/office/drawing/2014/main" id="{DB3DBD3A-376C-4E18-A0E2-5C5F773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17068"/>
                </a:solidFill>
                <a:latin typeface="Arial"/>
                <a:ea typeface="Arial"/>
                <a:cs typeface="Arial"/>
              </a:rPr>
              <a:t>Для проверки без сети: CLI с --demo --no-weather</a:t>
            </a:r>
          </a:p>
        </p:txBody>
      </p:sp>
    </p:spTree>
    <p:extLst>
      <p:ext uri="{BB962C8B-B14F-4D97-AF65-F5344CB8AC3E}">
        <p14:creationId xmlns:p14="http://schemas.microsoft.com/office/powerpoint/2010/main" val="1502191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-0">
            <a:extLst xmlns:a="http://schemas.openxmlformats.org/drawingml/2006/main">
              <a:ext uri="{FF2B5EF4-FFF2-40B4-BE49-F238E27FC236}">
                <a16:creationId xmlns:a16="http://schemas.microsoft.com/office/drawing/2014/main" id="{B2872E25-EA4A-42F7-9927-4B860A29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Пять сценариев брифа</a:t>
            </a:r>
          </a:p>
        </p:txBody>
      </p:sp>
      <p:sp>
        <p:nvSpPr>
          <p:cNvPr id="2" name="text-9-1">
            <a:extLst xmlns:a="http://schemas.openxmlformats.org/drawingml/2006/main">
              <a:ext uri="{FF2B5EF4-FFF2-40B4-BE49-F238E27FC236}">
                <a16:creationId xmlns:a16="http://schemas.microsoft.com/office/drawing/2014/main" id="{947C9C6F-E7EE-4096-80A9-2A314078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0E3F1-7E7F-4237-9712-231F092CA04D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10810875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6048375"/>
              </a:tblGrid>
              <a:tr h="647700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Ситуация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T w="9525">
                      <a:solidFill>
                        <a:srgbClr val="C9D5C8"/>
                      </a:solidFill>
                      <a:prstDash val="solid"/>
                    </a:lnT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203D31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проверяем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T w="9525">
                      <a:solidFill>
                        <a:srgbClr val="C9D5C8"/>
                      </a:solidFill>
                      <a:prstDash val="solid"/>
                    </a:lnT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203D31"/>
                    </a:solidFill>
                  </a:tcPr>
                </a:tc>
              </a:tr>
              <a:tr h="6477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45 минут у Mega Silk Way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Близость и бюджет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6477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Тихое кафе с розетками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Пожелания и неизвестные свойства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6477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Прогулка с ребёнком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и ограничения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6477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Два часа до рейса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Возврат и отсутствие вариантов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  <a:tr h="647700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Необычное ночью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C8"/>
                      </a:solidFill>
                      <a:prstDash val="solid"/>
                    </a:lnL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344A40"/>
                          </a:solidFill>
                          <a:latin typeface="Arial"/>
                          <a:ea typeface="Arial"/>
                          <a:cs typeface="Arial"/>
                        </a:rPr>
                        <a:t>Выбранное время и часы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C8"/>
                      </a:solidFill>
                      <a:prstDash val="solid"/>
                    </a:lnR>
                    <a:lnB w="9525">
                      <a:solidFill>
                        <a:srgbClr val="C9D5C8"/>
                      </a:solidFill>
                      <a:prstDash val="solid"/>
                    </a:lnB>
                    <a:solidFill>
                      <a:srgbClr val="F5F7F3"/>
                    </a:solidFill>
                  </a:tcPr>
                </a:tc>
              </a:tr>
            </a:tbl>
          </a:graphicData>
        </a:graphic>
      </p:graphicFrame>
      <p:sp>
        <p:nvSpPr>
          <p:cNvPr id="4" name="text-9-2">
            <a:extLst xmlns:a="http://schemas.openxmlformats.org/drawingml/2006/main">
              <a:ext uri="{FF2B5EF4-FFF2-40B4-BE49-F238E27FC236}">
                <a16:creationId xmlns:a16="http://schemas.microsoft.com/office/drawing/2014/main" id="{34E8813D-9993-493E-9995-8D645E53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Фактические выводы с фиксированным временем: docs/TEST_SCENARIOS.md</a:t>
            </a:r>
          </a:p>
        </p:txBody>
      </p:sp>
    </p:spTree>
    <p:extLst>
      <p:ext uri="{BB962C8B-B14F-4D97-AF65-F5344CB8AC3E}">
        <p14:creationId xmlns:p14="http://schemas.microsoft.com/office/powerpoint/2010/main" val="2080593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DE8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0-0">
            <a:extLst xmlns:a="http://schemas.openxmlformats.org/drawingml/2006/main">
              <a:ext uri="{FF2B5EF4-FFF2-40B4-BE49-F238E27FC236}">
                <a16:creationId xmlns:a16="http://schemas.microsoft.com/office/drawing/2014/main" id="{CB7AC7C4-5F33-46AE-B9E5-783E384E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2" name="text-10-1">
            <a:extLst xmlns:a="http://schemas.openxmlformats.org/drawingml/2006/main">
              <a:ext uri="{FF2B5EF4-FFF2-40B4-BE49-F238E27FC236}">
                <a16:creationId xmlns:a16="http://schemas.microsoft.com/office/drawing/2014/main" id="{CC7C7FC6-3CF6-4E09-A86F-05FC9479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10-2">
            <a:extLst xmlns:a="http://schemas.openxmlformats.org/drawingml/2006/main">
              <a:ext uri="{FF2B5EF4-FFF2-40B4-BE49-F238E27FC236}">
                <a16:creationId xmlns:a16="http://schemas.microsoft.com/office/drawing/2014/main" id="{CA1241CC-32D4-4587-BB00-AA80C0DE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Проверка реальных маршрутов</a:t>
            </a:r>
          </a:p>
          <a:p xmlns:a="http://schemas.openxmlformats.org/drawingml/2006/main">
            <a:pPr>
              <a:defRPr sz="4500" b="1">
                <a:solidFill>
                  <a:srgbClr val="203D3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03D31"/>
                </a:solidFill>
                <a:latin typeface="Arial"/>
                <a:ea typeface="Arial"/>
                <a:cs typeface="Arial"/>
              </a:rPr>
              <a:t>и актуальности мест</a:t>
            </a:r>
          </a:p>
        </p:txBody>
      </p:sp>
      <p:sp>
        <p:nvSpPr>
          <p:cNvPr id="4" name="text-10-3">
            <a:extLst xmlns:a="http://schemas.openxmlformats.org/drawingml/2006/main">
              <a:ext uri="{FF2B5EF4-FFF2-40B4-BE49-F238E27FC236}">
                <a16:creationId xmlns:a16="http://schemas.microsoft.com/office/drawing/2014/main" id="{D0F3825E-6AB5-46CE-9B44-9ABA226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Граф пешеходных улиц и переходов</a:t>
            </a:r>
          </a:p>
          <a:p xmlns:a="http://schemas.openxmlformats.org/drawingml/2006/main">
            <a: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Подтверждённые часы и доступность</a:t>
            </a:r>
          </a:p>
          <a:p xmlns:a="http://schemas.openxmlformats.org/drawingml/2006/main">
            <a:pPr>
              <a:defRPr sz="2400" b="0">
                <a:solidFill>
                  <a:srgbClr val="344A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A40"/>
                </a:solidFill>
                <a:latin typeface="Arial"/>
                <a:ea typeface="Arial"/>
                <a:cs typeface="Arial"/>
              </a:rPr>
              <a:t>Пилот с жителями и гостями города</a:t>
            </a:r>
          </a:p>
        </p:txBody>
      </p:sp>
      <p:sp>
        <p:nvSpPr>
          <p:cNvPr id="5" name="text-10-4">
            <a:extLst xmlns:a="http://schemas.openxmlformats.org/drawingml/2006/main">
              <a:ext uri="{FF2B5EF4-FFF2-40B4-BE49-F238E27FC236}">
                <a16:creationId xmlns:a16="http://schemas.microsoft.com/office/drawing/2014/main" id="{569C6D30-7620-4EB8-BBBA-4EA016C8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170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068"/>
                </a:solidFill>
                <a:latin typeface="Arial"/>
                <a:ea typeface="Arial"/>
                <a:cs typeface="Arial"/>
              </a:rPr>
              <a:t>Seruen AI уже можно запустить и проверить локально.</a:t>
            </a:r>
          </a:p>
        </p:txBody>
      </p:sp>
    </p:spTree>
    <p:extLst>
      <p:ext uri="{BB962C8B-B14F-4D97-AF65-F5344CB8AC3E}">
        <p14:creationId xmlns:p14="http://schemas.microsoft.com/office/powerpoint/2010/main" val="30859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2026-10-19T17:58:05.7260000Z</dcterms:created>
  <dcterms:modified xsi:type="dcterms:W3CDTF">2026-10-19T17:58:05.7260000Z</dcterms:modified>
</coreProperties>
</file>